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2" r:id="rId2"/>
    <p:sldId id="283" r:id="rId3"/>
    <p:sldId id="284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26" autoAdjust="0"/>
  </p:normalViewPr>
  <p:slideViewPr>
    <p:cSldViewPr snapToGrid="0">
      <p:cViewPr varScale="1">
        <p:scale>
          <a:sx n="153" d="100"/>
          <a:sy n="153" d="100"/>
        </p:scale>
        <p:origin x="5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A766A-9492-44F8-BA90-8FEBF291354D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B1139-74DB-482D-9555-AA93BA231E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35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c.ee.ntu.edu.tw/~rbwu/rapid_content/course/highspeed/SI10_Equalization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Transaction layer: 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 Training and Status State Machine (LTSSM) </a:t>
            </a:r>
            <a:r>
              <a:rPr kumimoji="1"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可以考慮學一下</a:t>
            </a:r>
            <a:r>
              <a:rPr kumimoji="1"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PCIE</a:t>
            </a:r>
            <a:r>
              <a:rPr kumimoji="1"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中對</a:t>
            </a:r>
            <a:r>
              <a:rPr kumimoji="1"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Serdes</a:t>
            </a:r>
            <a:r>
              <a:rPr kumimoji="1"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初始化或設置會用到的</a:t>
            </a:r>
            <a:endParaRPr kumimoji="1" lang="ja-JP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B1139-74DB-482D-9555-AA93BA231EA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358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Ref.</a:t>
            </a:r>
          </a:p>
          <a:p>
            <a:r>
              <a:rPr lang="en-US" altLang="ja-JP" dirty="0">
                <a:hlinkClick r:id="rId3"/>
              </a:rPr>
              <a:t>Resonant Free Power Network Design</a:t>
            </a:r>
            <a:endParaRPr kumimoji="1" lang="ja-JP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B1139-74DB-482D-9555-AA93BA231EA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36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885B4-880D-AF8C-7997-FB08E5364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692B2D7-FBC0-78C8-C703-709380C56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180726-3347-694B-78D8-D2148B06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CB97E3-EA19-A61E-6C9F-17A50B85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9BC37A-8A10-AE46-444C-78A43329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70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277994-89A1-16E8-D0C6-4887663C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597B5D-465A-B3D7-6527-930A7C7F2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1AB748-F75C-EA60-FC9C-EA0DE36E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642CCC-6A49-4C58-30AF-658455EB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8094F6-7078-D58E-45AB-80CA9119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71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A67CF-C0DB-1993-9452-7D7F0661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2B8550-D3C7-33B9-4A59-DD3D18DD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C96725-43EB-65F6-7757-153A6AC2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D095FF-D0DE-61D4-6512-01C91C9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BFC412-F611-9FC3-9022-34BFD612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34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E638F3-BFFE-8C5C-242E-C5187344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1A82A0-B051-DBCE-3F81-3A64AE2B0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CE0552-30A6-447D-3F55-38E083C95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ED0C93-4D95-DB35-A46B-9E2781D41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DD2AD4-805D-6E5C-8A54-49D871EC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F59B45-2E7A-1DB1-AE28-03B557DA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01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07AA29-4DD9-8B35-8499-59527FD3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3DFE08-EC60-9943-BE27-C9477509A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1F148F-C0C2-E600-410F-13B700978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94677CD-CEC1-C9E6-20AE-BE99D2C57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B6EAAA-B2B9-CC35-2689-69B6B15C0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993A2EC-1269-4DB1-696A-8CC55993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145BC62-8A1A-78A1-42B4-0FB65002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6C7117-B31B-74F7-367B-51FBBEDF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50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20A17A-083D-E02E-54F3-B255BC4F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75B601-AD0D-8161-DAEF-344FC484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41D6DA5-7632-DE41-2F1E-27412253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B73A1C-0223-5673-183D-260179AE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21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F6BA62C-A2CD-1FC2-1E11-71438A74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1862060-0471-9A99-0B96-1746C05E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A26F5D-BFF5-CE94-73A1-6915677A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449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E279C-BD21-FF37-7856-1F7E3E05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989E7B-6703-6C8D-2E08-6199146CA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AFC0D-A449-8702-DA1C-2A262D942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433C1C-ABA0-95E1-5E7B-256037A4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1715A-5134-F5CE-9319-E4DA6C26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9E58CD-EF85-B301-7CB1-2E14404A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554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52D89A-74A9-A496-31A7-A8D520C2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DFC9E6-BEE4-C311-D604-ABA7BA3A4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A80BA5-5801-04F1-6577-D57723EBB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60AC7-018B-AFBE-E2CF-0EAD738B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3277F2-B98E-2769-A87A-ED0A282A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99A1AB-8E60-D568-14D4-3F48FC17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15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813E90-1481-7EF9-D710-B47E8DC5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ABED3EA-62D1-21D3-54F0-DC028ACE2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1CC370-3BFD-FEF2-6EA4-987292C9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473390-A203-798D-392E-377F80A7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49D37A-927E-2C03-DE6A-CE7B317B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265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5CC0CF-DC6C-E96E-BFE6-C33BF4676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0AA1EB-8B9E-06CC-FB33-A183FF8FB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664A2D-A14D-1187-C01D-9B836FAF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BFAE90-96ED-1169-03C5-1762CEA5B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D2A4EA-3FCD-405A-45EA-44993C0A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69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887B60D-C037-1251-7085-199509C9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849C9C-457E-74F1-3CC6-82E89BF3F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72FB3D-5C97-1EAB-87BA-D1A348168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FC38A-1560-48A0-AF93-703BDD9B32DF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78A662-FBF5-EEE2-4893-E9FF7EC7C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0169AF-F053-2787-0C13-C8582CB92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823F4-8E6C-4A00-981D-CD52BA735D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19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A6A4BC-AE4B-29F3-BDEB-EDEEA9ED293F}"/>
              </a:ext>
            </a:extLst>
          </p:cNvPr>
          <p:cNvSpPr/>
          <p:nvPr/>
        </p:nvSpPr>
        <p:spPr>
          <a:xfrm>
            <a:off x="656167" y="546099"/>
            <a:ext cx="1231900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Transaction layer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1316EE-326A-70DA-8574-E03C41A2A6C1}"/>
              </a:ext>
            </a:extLst>
          </p:cNvPr>
          <p:cNvSpPr/>
          <p:nvPr/>
        </p:nvSpPr>
        <p:spPr>
          <a:xfrm>
            <a:off x="656167" y="1405465"/>
            <a:ext cx="1231900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Data Link layer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1B25B0-FFCF-6EDD-4524-5405DA35C6AE}"/>
              </a:ext>
            </a:extLst>
          </p:cNvPr>
          <p:cNvSpPr/>
          <p:nvPr/>
        </p:nvSpPr>
        <p:spPr>
          <a:xfrm>
            <a:off x="656167" y="2264831"/>
            <a:ext cx="1231900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Physical</a:t>
            </a:r>
          </a:p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layer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6B8C6599-EFFD-EDAE-74F3-F8AC1D2DCBCA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1272117" y="1011766"/>
            <a:ext cx="0" cy="393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58552F4-6C50-22C3-F2B9-2383290479CA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1272117" y="1871132"/>
            <a:ext cx="0" cy="393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CC4B975F-4113-B8AA-B648-D50AF9810CFC}"/>
              </a:ext>
            </a:extLst>
          </p:cNvPr>
          <p:cNvSpPr/>
          <p:nvPr/>
        </p:nvSpPr>
        <p:spPr>
          <a:xfrm>
            <a:off x="2429932" y="1432981"/>
            <a:ext cx="1828800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Media Access Layer (MAC)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16A278-33A0-981A-14F9-7A5DEFA40EC1}"/>
              </a:ext>
            </a:extLst>
          </p:cNvPr>
          <p:cNvSpPr/>
          <p:nvPr/>
        </p:nvSpPr>
        <p:spPr>
          <a:xfrm>
            <a:off x="2429932" y="2215089"/>
            <a:ext cx="1828800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Physical Coding </a:t>
            </a:r>
          </a:p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sub-Layer (PCS)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30042A-E3BB-90D3-EF22-91CE5E84D426}"/>
              </a:ext>
            </a:extLst>
          </p:cNvPr>
          <p:cNvSpPr/>
          <p:nvPr/>
        </p:nvSpPr>
        <p:spPr>
          <a:xfrm>
            <a:off x="2429932" y="2997197"/>
            <a:ext cx="1828800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Physical Media Attachment (PMA)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F8519982-B786-0DFA-E42A-AC54079CA7AF}"/>
              </a:ext>
            </a:extLst>
          </p:cNvPr>
          <p:cNvSpPr/>
          <p:nvPr/>
        </p:nvSpPr>
        <p:spPr>
          <a:xfrm>
            <a:off x="1998136" y="1651001"/>
            <a:ext cx="385223" cy="1638300"/>
          </a:xfrm>
          <a:prstGeom prst="leftBrace">
            <a:avLst>
              <a:gd name="adj1" fmla="val 8333"/>
              <a:gd name="adj2" fmla="val 51108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右大括弧 12">
            <a:extLst>
              <a:ext uri="{FF2B5EF4-FFF2-40B4-BE49-F238E27FC236}">
                <a16:creationId xmlns:a16="http://schemas.microsoft.com/office/drawing/2014/main" id="{3658AA25-536E-5E02-C58B-1D86D837BA15}"/>
              </a:ext>
            </a:extLst>
          </p:cNvPr>
          <p:cNvSpPr/>
          <p:nvPr/>
        </p:nvSpPr>
        <p:spPr>
          <a:xfrm>
            <a:off x="4364566" y="2215089"/>
            <a:ext cx="220134" cy="1281644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BD33DA-A640-4A7A-294E-81A6514F8178}"/>
              </a:ext>
            </a:extLst>
          </p:cNvPr>
          <p:cNvSpPr txBox="1"/>
          <p:nvPr/>
        </p:nvSpPr>
        <p:spPr>
          <a:xfrm>
            <a:off x="4584700" y="2702022"/>
            <a:ext cx="99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Serdes (IP)</a:t>
            </a:r>
            <a:endParaRPr kumimoji="1" lang="ja-JP" altLang="en-US" sz="1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484BA46-088B-C4B5-6429-FFA44D00533F}"/>
              </a:ext>
            </a:extLst>
          </p:cNvPr>
          <p:cNvSpPr txBox="1"/>
          <p:nvPr/>
        </p:nvSpPr>
        <p:spPr>
          <a:xfrm>
            <a:off x="5884333" y="882245"/>
            <a:ext cx="53721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/>
              <a:t>Physical Coding sub-Layer (PCS): </a:t>
            </a:r>
          </a:p>
          <a:p>
            <a:r>
              <a:rPr kumimoji="1" lang="zh-TW" altLang="en-US" sz="1400" dirty="0"/>
              <a:t>負責做數位相關的工作</a:t>
            </a:r>
            <a:r>
              <a:rPr kumimoji="1" lang="en-US" altLang="zh-TW" sz="1400" dirty="0"/>
              <a:t>, </a:t>
            </a:r>
            <a:r>
              <a:rPr kumimoji="1" lang="zh-TW" altLang="en-US" sz="1400" dirty="0"/>
              <a:t>包含</a:t>
            </a:r>
            <a:r>
              <a:rPr kumimoji="1" lang="en-US" altLang="zh-TW" sz="1400" dirty="0"/>
              <a:t>encoder, decoder (8b/10b,…),</a:t>
            </a:r>
          </a:p>
          <a:p>
            <a:r>
              <a:rPr kumimoji="1" lang="en-US" altLang="ja-JP" sz="1400" dirty="0"/>
              <a:t>Elastic buffer (</a:t>
            </a:r>
            <a:r>
              <a:rPr kumimoji="1" lang="zh-TW" altLang="en-US" sz="1400" dirty="0"/>
              <a:t>處理</a:t>
            </a:r>
            <a:r>
              <a:rPr kumimoji="1" lang="en-US" altLang="zh-TW" sz="1400" dirty="0"/>
              <a:t>Tx, Rx</a:t>
            </a:r>
            <a:r>
              <a:rPr kumimoji="1" lang="zh-TW" altLang="en-US" sz="1400" dirty="0"/>
              <a:t>的</a:t>
            </a:r>
            <a:r>
              <a:rPr kumimoji="1" lang="en-US" altLang="zh-TW" sz="1400" dirty="0"/>
              <a:t>clock</a:t>
            </a:r>
            <a:r>
              <a:rPr kumimoji="1" lang="zh-TW" altLang="en-US" sz="1400" dirty="0"/>
              <a:t>速度不對稱時可能產生的問題</a:t>
            </a:r>
            <a:r>
              <a:rPr kumimoji="1" lang="en-US" altLang="ja-JP" sz="1400" dirty="0"/>
              <a:t>),</a:t>
            </a:r>
          </a:p>
          <a:p>
            <a:r>
              <a:rPr kumimoji="1" lang="en-US" altLang="ja-JP" sz="1400" dirty="0"/>
              <a:t>RX alignment </a:t>
            </a:r>
            <a:endParaRPr kumimoji="1" lang="ja-JP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721E91D-FD6C-DC79-EDED-33C7E64BCD65}"/>
              </a:ext>
            </a:extLst>
          </p:cNvPr>
          <p:cNvSpPr txBox="1"/>
          <p:nvPr/>
        </p:nvSpPr>
        <p:spPr>
          <a:xfrm>
            <a:off x="5884333" y="2055692"/>
            <a:ext cx="53721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/>
              <a:t>Physical Media Attachment (PMA): </a:t>
            </a:r>
          </a:p>
          <a:p>
            <a:r>
              <a:rPr kumimoji="1" lang="zh-TW" altLang="en-US" sz="1400" dirty="0"/>
              <a:t>負責做較多類比相關的工作</a:t>
            </a:r>
            <a:r>
              <a:rPr kumimoji="1" lang="en-US" altLang="zh-TW" sz="1400" dirty="0"/>
              <a:t>, </a:t>
            </a:r>
            <a:r>
              <a:rPr kumimoji="1" lang="zh-TW" altLang="en-US" sz="1400" dirty="0"/>
              <a:t>包含</a:t>
            </a:r>
            <a:endParaRPr kumimoji="1" lang="en-US" altLang="zh-TW" sz="1400" dirty="0"/>
          </a:p>
          <a:p>
            <a:r>
              <a:rPr kumimoji="1" lang="en-US" altLang="zh-TW" sz="1400" dirty="0"/>
              <a:t>Equalizer,</a:t>
            </a:r>
            <a:r>
              <a:rPr kumimoji="1" lang="zh-TW" altLang="en-US" sz="1400" dirty="0"/>
              <a:t> </a:t>
            </a:r>
            <a:r>
              <a:rPr kumimoji="1" lang="en-US" altLang="zh-TW" sz="1400" dirty="0"/>
              <a:t>Serializer, </a:t>
            </a:r>
            <a:r>
              <a:rPr kumimoji="1" lang="en-US" altLang="zh-TW" sz="1400" dirty="0" err="1"/>
              <a:t>deserializer</a:t>
            </a:r>
            <a:r>
              <a:rPr kumimoji="1" lang="en-US" altLang="zh-TW" sz="1400" dirty="0"/>
              <a:t>, Differential circuit, CDR, PLL? </a:t>
            </a:r>
            <a:endParaRPr kumimoji="1" lang="ja-JP" altLang="en-US" sz="14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04FA447-0520-AE82-1337-263C680725E9}"/>
              </a:ext>
            </a:extLst>
          </p:cNvPr>
          <p:cNvSpPr txBox="1"/>
          <p:nvPr/>
        </p:nvSpPr>
        <p:spPr>
          <a:xfrm>
            <a:off x="5884333" y="2939644"/>
            <a:ext cx="2821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PLL</a:t>
            </a:r>
            <a:r>
              <a:rPr kumimoji="1" lang="zh-TW" altLang="en-US" sz="1400" dirty="0"/>
              <a:t>在</a:t>
            </a:r>
            <a:r>
              <a:rPr kumimoji="1" lang="en-US" altLang="zh-TW" sz="1400" dirty="0"/>
              <a:t>TX</a:t>
            </a:r>
            <a:r>
              <a:rPr kumimoji="1" lang="zh-TW" altLang="en-US" sz="1400" dirty="0"/>
              <a:t>跟</a:t>
            </a:r>
            <a:r>
              <a:rPr kumimoji="1" lang="en-US" altLang="zh-TW" sz="1400" dirty="0"/>
              <a:t>RX</a:t>
            </a:r>
            <a:r>
              <a:rPr kumimoji="1" lang="zh-TW" altLang="en-US" sz="1400" dirty="0"/>
              <a:t>端都有需要</a:t>
            </a:r>
            <a:r>
              <a:rPr kumimoji="1" lang="en-US" altLang="zh-TW" sz="1400" dirty="0"/>
              <a:t>,</a:t>
            </a:r>
          </a:p>
          <a:p>
            <a:r>
              <a:rPr kumimoji="1" lang="en-US" altLang="ja-JP" sz="1400" dirty="0"/>
              <a:t>TX</a:t>
            </a:r>
            <a:r>
              <a:rPr kumimoji="1" lang="zh-TW" altLang="en-US" sz="1400" dirty="0"/>
              <a:t>端為了</a:t>
            </a:r>
            <a:r>
              <a:rPr kumimoji="1" lang="en-US" altLang="zh-TW" sz="1400" dirty="0"/>
              <a:t>SSC</a:t>
            </a:r>
            <a:r>
              <a:rPr kumimoji="1" lang="zh-TW" altLang="en-US" sz="1400" dirty="0"/>
              <a:t>跟倍頻</a:t>
            </a:r>
            <a:r>
              <a:rPr kumimoji="1" lang="en-US" altLang="zh-TW" sz="1400" dirty="0"/>
              <a:t>, RX</a:t>
            </a:r>
            <a:r>
              <a:rPr kumimoji="1" lang="zh-TW" altLang="en-US" sz="1400" dirty="0"/>
              <a:t>端則是</a:t>
            </a:r>
            <a:r>
              <a:rPr kumimoji="1" lang="en-US" altLang="zh-TW" sz="1400" dirty="0"/>
              <a:t>CDR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2777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77F8B89-02F3-031F-EB8F-DB43DD094E32}"/>
              </a:ext>
            </a:extLst>
          </p:cNvPr>
          <p:cNvSpPr txBox="1"/>
          <p:nvPr/>
        </p:nvSpPr>
        <p:spPr>
          <a:xfrm>
            <a:off x="410633" y="414867"/>
            <a:ext cx="4157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Equalizer: </a:t>
            </a:r>
            <a:r>
              <a:rPr kumimoji="1" lang="zh-TW" altLang="en-US" dirty="0"/>
              <a:t>等化器</a:t>
            </a:r>
            <a:r>
              <a:rPr kumimoji="1" lang="en-US" altLang="zh-TW" dirty="0"/>
              <a:t>, </a:t>
            </a:r>
            <a:r>
              <a:rPr kumimoji="1" lang="zh-TW" altLang="en-US" dirty="0"/>
              <a:t>根據</a:t>
            </a:r>
            <a:r>
              <a:rPr kumimoji="1" lang="en-US" altLang="zh-TW" dirty="0"/>
              <a:t>TX, RX</a:t>
            </a:r>
            <a:r>
              <a:rPr kumimoji="1" lang="zh-TW" altLang="en-US" dirty="0"/>
              <a:t>有不同區分</a:t>
            </a:r>
            <a:endParaRPr kumimoji="1" lang="ja-JP" altLang="en-US" dirty="0"/>
          </a:p>
        </p:txBody>
      </p:sp>
      <p:pic>
        <p:nvPicPr>
          <p:cNvPr id="4" name="圖片 3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E379A7C1-2476-ED96-22FF-F444CF415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33" y="956734"/>
            <a:ext cx="4915594" cy="363167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94B1BC4-9445-37E3-1EAE-11904216D1AA}"/>
              </a:ext>
            </a:extLst>
          </p:cNvPr>
          <p:cNvSpPr txBox="1"/>
          <p:nvPr/>
        </p:nvSpPr>
        <p:spPr>
          <a:xfrm>
            <a:off x="5528732" y="922868"/>
            <a:ext cx="652935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TX</a:t>
            </a:r>
            <a:r>
              <a:rPr kumimoji="1" lang="zh-TW" altLang="en-US" dirty="0"/>
              <a:t>端送出的訊號會根據跑線長度跟訊號的高低頻有所衰減</a:t>
            </a:r>
            <a:r>
              <a:rPr kumimoji="1" lang="en-US" altLang="zh-TW" dirty="0"/>
              <a:t>,</a:t>
            </a:r>
          </a:p>
          <a:p>
            <a:r>
              <a:rPr kumimoji="1" lang="zh-TW" altLang="en-US" dirty="0"/>
              <a:t>等化器可以理解成為了解決這個問題所生的電路</a:t>
            </a:r>
            <a:r>
              <a:rPr kumimoji="1" lang="en-US" altLang="zh-TW" dirty="0"/>
              <a:t>.</a:t>
            </a:r>
          </a:p>
          <a:p>
            <a:endParaRPr kumimoji="1" lang="en-US" altLang="zh-TW" dirty="0"/>
          </a:p>
          <a:p>
            <a:r>
              <a:rPr kumimoji="1" lang="zh-TW" altLang="en-US" dirty="0"/>
              <a:t>在</a:t>
            </a:r>
            <a:r>
              <a:rPr kumimoji="1" lang="en-US" altLang="zh-TW" dirty="0"/>
              <a:t>TX</a:t>
            </a:r>
            <a:r>
              <a:rPr kumimoji="1" lang="zh-TW" altLang="en-US" dirty="0"/>
              <a:t>端的等化器做為預先處理的一個方案</a:t>
            </a:r>
            <a:r>
              <a:rPr kumimoji="1" lang="en-US" altLang="zh-TW" dirty="0"/>
              <a:t>, </a:t>
            </a:r>
            <a:r>
              <a:rPr kumimoji="1" lang="zh-TW" altLang="en-US" dirty="0"/>
              <a:t>藉由在訊號切換時的</a:t>
            </a:r>
            <a:endParaRPr kumimoji="1" lang="en-US" altLang="zh-TW" dirty="0"/>
          </a:p>
          <a:p>
            <a:r>
              <a:rPr kumimoji="1" lang="zh-TW" altLang="en-US" dirty="0"/>
              <a:t>狀態來增加電壓藉此提高振福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TX</a:t>
            </a:r>
            <a:r>
              <a:rPr kumimoji="1" lang="zh-TW" altLang="en-US" dirty="0"/>
              <a:t>的</a:t>
            </a:r>
            <a:r>
              <a:rPr kumimoji="1" lang="en-US" altLang="zh-TW" dirty="0"/>
              <a:t>Equalizer</a:t>
            </a:r>
            <a:r>
              <a:rPr kumimoji="1" lang="zh-TW" altLang="en-US" dirty="0"/>
              <a:t>典型有</a:t>
            </a:r>
            <a:r>
              <a:rPr kumimoji="1" lang="en-US" altLang="zh-TW" dirty="0"/>
              <a:t>Digital</a:t>
            </a:r>
            <a:r>
              <a:rPr kumimoji="1" lang="zh-TW" altLang="en-US" dirty="0"/>
              <a:t>的</a:t>
            </a:r>
            <a:r>
              <a:rPr kumimoji="1" lang="en-US" altLang="zh-TW" dirty="0"/>
              <a:t>TX-FFE (</a:t>
            </a:r>
            <a:r>
              <a:rPr kumimoji="1" lang="zh-TW" altLang="en-US" dirty="0"/>
              <a:t>前饋均衡器</a:t>
            </a:r>
            <a:r>
              <a:rPr kumimoji="1" lang="en-US" altLang="zh-TW" dirty="0"/>
              <a:t>, FIR filter),</a:t>
            </a:r>
          </a:p>
          <a:p>
            <a:r>
              <a:rPr kumimoji="1" lang="zh-TW" altLang="en-US" dirty="0"/>
              <a:t>或</a:t>
            </a:r>
            <a:r>
              <a:rPr kumimoji="1" lang="en-US" altLang="zh-TW" dirty="0"/>
              <a:t>analog</a:t>
            </a:r>
            <a:r>
              <a:rPr kumimoji="1" lang="zh-TW" altLang="en-US" dirty="0"/>
              <a:t>的</a:t>
            </a:r>
            <a:r>
              <a:rPr kumimoji="1" lang="en-US" altLang="zh-TW" dirty="0"/>
              <a:t>CTLE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RX</a:t>
            </a:r>
            <a:r>
              <a:rPr kumimoji="1" lang="zh-TW" altLang="en-US" dirty="0"/>
              <a:t>端則有</a:t>
            </a:r>
            <a:r>
              <a:rPr kumimoji="1" lang="en-US" altLang="zh-TW" dirty="0"/>
              <a:t>FFE, CTLE, DFE (Decision Feedback Equalization)</a:t>
            </a:r>
          </a:p>
          <a:p>
            <a:endParaRPr kumimoji="1" lang="en-US" altLang="zh-TW" dirty="0"/>
          </a:p>
          <a:p>
            <a:r>
              <a:rPr kumimoji="1" lang="zh-TW" altLang="en-US" dirty="0"/>
              <a:t>通常</a:t>
            </a:r>
            <a:r>
              <a:rPr kumimoji="1" lang="en-US" altLang="zh-TW" dirty="0"/>
              <a:t>TX</a:t>
            </a:r>
            <a:r>
              <a:rPr kumimoji="1" lang="zh-TW" altLang="en-US" dirty="0"/>
              <a:t>跟</a:t>
            </a:r>
            <a:r>
              <a:rPr kumimoji="1" lang="en-US" altLang="zh-TW" dirty="0"/>
              <a:t>RX</a:t>
            </a:r>
            <a:r>
              <a:rPr kumimoji="1" lang="zh-TW" altLang="en-US" dirty="0"/>
              <a:t>端的</a:t>
            </a:r>
            <a:r>
              <a:rPr kumimoji="1" lang="en-US" altLang="zh-TW" dirty="0"/>
              <a:t>Equalizer</a:t>
            </a:r>
            <a:r>
              <a:rPr kumimoji="1" lang="zh-TW" altLang="en-US" dirty="0"/>
              <a:t>在參數</a:t>
            </a:r>
            <a:r>
              <a:rPr kumimoji="1" lang="en-US" altLang="zh-TW" dirty="0"/>
              <a:t>(FIR</a:t>
            </a:r>
            <a:r>
              <a:rPr kumimoji="1" lang="zh-TW" altLang="en-US" dirty="0"/>
              <a:t>的</a:t>
            </a:r>
            <a:r>
              <a:rPr kumimoji="1" lang="en-US" altLang="zh-TW" dirty="0"/>
              <a:t>tap</a:t>
            </a:r>
            <a:r>
              <a:rPr kumimoji="1" lang="zh-TW" altLang="en-US" dirty="0"/>
              <a:t>數或</a:t>
            </a:r>
            <a:r>
              <a:rPr kumimoji="1" lang="en-US" altLang="zh-TW" dirty="0"/>
              <a:t>CTLE</a:t>
            </a:r>
            <a:r>
              <a:rPr kumimoji="1" lang="zh-TW" altLang="en-US" dirty="0"/>
              <a:t>的</a:t>
            </a:r>
            <a:r>
              <a:rPr kumimoji="1" lang="en-US" altLang="zh-TW" dirty="0"/>
              <a:t>gain)</a:t>
            </a:r>
            <a:r>
              <a:rPr kumimoji="1" lang="zh-TW" altLang="en-US" dirty="0"/>
              <a:t>需要</a:t>
            </a:r>
            <a:endParaRPr kumimoji="1" lang="en-US" altLang="zh-TW" dirty="0"/>
          </a:p>
          <a:p>
            <a:r>
              <a:rPr kumimoji="1" lang="zh-TW" altLang="en-US" dirty="0"/>
              <a:t>一起做調整</a:t>
            </a:r>
            <a:endParaRPr kumimoji="1"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CB2FF7-D53A-0BF9-EAED-967417979F47}"/>
              </a:ext>
            </a:extLst>
          </p:cNvPr>
          <p:cNvSpPr/>
          <p:nvPr/>
        </p:nvSpPr>
        <p:spPr>
          <a:xfrm>
            <a:off x="2645833" y="3285067"/>
            <a:ext cx="1303867" cy="35136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43E61ED-CFF6-294E-CC80-4D17E1E6CBDD}"/>
              </a:ext>
            </a:extLst>
          </p:cNvPr>
          <p:cNvCxnSpPr>
            <a:stCxn id="6" idx="2"/>
          </p:cNvCxnSpPr>
          <p:nvPr/>
        </p:nvCxnSpPr>
        <p:spPr>
          <a:xfrm>
            <a:off x="3297767" y="3636433"/>
            <a:ext cx="105833" cy="1236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DFAC6CF4-EEA8-DB23-7AA5-7791114B360C}"/>
              </a:ext>
            </a:extLst>
          </p:cNvPr>
          <p:cNvSpPr txBox="1"/>
          <p:nvPr/>
        </p:nvSpPr>
        <p:spPr>
          <a:xfrm>
            <a:off x="140640" y="4916156"/>
            <a:ext cx="5185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400" dirty="0"/>
              <a:t>訊號較高頻處衰減明顯 </a:t>
            </a:r>
            <a:r>
              <a:rPr kumimoji="1" lang="en-US" altLang="zh-TW" sz="1400" dirty="0"/>
              <a:t>(</a:t>
            </a:r>
            <a:r>
              <a:rPr kumimoji="1" lang="zh-TW" altLang="en-US" sz="1400" dirty="0"/>
              <a:t>這也算是要做</a:t>
            </a:r>
            <a:r>
              <a:rPr kumimoji="1" lang="en-US" altLang="zh-TW" sz="1400" dirty="0"/>
              <a:t>scrambler</a:t>
            </a:r>
            <a:r>
              <a:rPr kumimoji="1" lang="zh-TW" altLang="en-US" sz="1400" dirty="0"/>
              <a:t>的一個原因吧</a:t>
            </a:r>
            <a:r>
              <a:rPr kumimoji="1" lang="en-US" altLang="zh-TW" sz="1400" dirty="0"/>
              <a:t>?)</a:t>
            </a:r>
            <a:endParaRPr kumimoji="1" lang="ja-JP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C29B93-F33E-1F30-5C30-A3E5E291A698}"/>
              </a:ext>
            </a:extLst>
          </p:cNvPr>
          <p:cNvSpPr/>
          <p:nvPr/>
        </p:nvSpPr>
        <p:spPr>
          <a:xfrm>
            <a:off x="410633" y="3253317"/>
            <a:ext cx="2195834" cy="35136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693A866-EF22-6296-5F2A-227FAA3348E4}"/>
              </a:ext>
            </a:extLst>
          </p:cNvPr>
          <p:cNvSpPr txBox="1"/>
          <p:nvPr/>
        </p:nvSpPr>
        <p:spPr>
          <a:xfrm>
            <a:off x="173601" y="5352077"/>
            <a:ext cx="26698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400" dirty="0"/>
              <a:t>通道的行為就類似</a:t>
            </a:r>
            <a:r>
              <a:rPr kumimoji="1" lang="en-US" altLang="zh-TW" sz="1400" dirty="0"/>
              <a:t>Low pass filter</a:t>
            </a:r>
            <a:endParaRPr kumimoji="1" lang="ja-JP" altLang="en-US" sz="1400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10E3013-859D-3701-C636-E94C59B55B46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1508550" y="3604683"/>
            <a:ext cx="0" cy="174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75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CF0636C-CAA4-AAA9-E922-565A9C6BBB75}"/>
              </a:ext>
            </a:extLst>
          </p:cNvPr>
          <p:cNvSpPr txBox="1"/>
          <p:nvPr/>
        </p:nvSpPr>
        <p:spPr>
          <a:xfrm>
            <a:off x="367468" y="329014"/>
            <a:ext cx="11927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Spread Spectrum Clocking (SSC, </a:t>
            </a:r>
            <a:r>
              <a:rPr lang="zh-TW" altLang="en-US" dirty="0"/>
              <a:t>展頻時脈</a:t>
            </a:r>
            <a:r>
              <a:rPr lang="en-US" altLang="ja-JP" dirty="0"/>
              <a:t>)</a:t>
            </a:r>
          </a:p>
          <a:p>
            <a:r>
              <a:rPr kumimoji="1" lang="zh-TW" altLang="en-US" dirty="0"/>
              <a:t>可以想像是一種刻意增加</a:t>
            </a:r>
            <a:r>
              <a:rPr kumimoji="1" lang="en-US" altLang="zh-TW" dirty="0"/>
              <a:t>jitter</a:t>
            </a:r>
            <a:r>
              <a:rPr kumimoji="1" lang="zh-TW" altLang="en-US" dirty="0"/>
              <a:t>的行為</a:t>
            </a:r>
            <a:r>
              <a:rPr kumimoji="1" lang="en-US" altLang="zh-TW" dirty="0"/>
              <a:t>, </a:t>
            </a:r>
            <a:r>
              <a:rPr kumimoji="1" lang="zh-TW" altLang="en-US" dirty="0"/>
              <a:t>主要透過控制</a:t>
            </a:r>
            <a:r>
              <a:rPr kumimoji="1" lang="en-US" altLang="zh-TW" dirty="0"/>
              <a:t>TX</a:t>
            </a:r>
            <a:r>
              <a:rPr kumimoji="1" lang="zh-TW" altLang="en-US" dirty="0"/>
              <a:t>端的</a:t>
            </a:r>
            <a:r>
              <a:rPr kumimoji="1" lang="en-US" altLang="zh-TW" dirty="0"/>
              <a:t>PLL</a:t>
            </a:r>
            <a:r>
              <a:rPr kumimoji="1" lang="zh-TW" altLang="en-US" dirty="0"/>
              <a:t>來降低頻率</a:t>
            </a:r>
            <a:r>
              <a:rPr kumimoji="1" lang="en-US" altLang="zh-TW" dirty="0"/>
              <a:t> (** </a:t>
            </a:r>
            <a:r>
              <a:rPr kumimoji="1" lang="zh-TW" altLang="en-US" dirty="0">
                <a:solidFill>
                  <a:srgbClr val="2C3BAE"/>
                </a:solidFill>
              </a:rPr>
              <a:t>再看看有沒有甚麼其他的解釋方法</a:t>
            </a:r>
            <a:r>
              <a:rPr kumimoji="1" lang="en-US" altLang="zh-TW" dirty="0"/>
              <a:t>**)</a:t>
            </a:r>
            <a:endParaRPr kumimoji="1" lang="ja-JP" altLang="en-US" dirty="0"/>
          </a:p>
        </p:txBody>
      </p:sp>
      <p:pic>
        <p:nvPicPr>
          <p:cNvPr id="4" name="圖片 3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32E5447F-013F-6DAD-4AE3-A9CC2A7A9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06" y="1397237"/>
            <a:ext cx="8845726" cy="381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7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355</Words>
  <Application>Microsoft Office PowerPoint</Application>
  <PresentationFormat>寬螢幕</PresentationFormat>
  <Paragraphs>41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游ゴシック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昭亘 林</dc:creator>
  <cp:lastModifiedBy>林昭亘</cp:lastModifiedBy>
  <cp:revision>4</cp:revision>
  <dcterms:created xsi:type="dcterms:W3CDTF">2025-12-27T07:40:59Z</dcterms:created>
  <dcterms:modified xsi:type="dcterms:W3CDTF">2026-03-01T18:15:58Z</dcterms:modified>
</cp:coreProperties>
</file>